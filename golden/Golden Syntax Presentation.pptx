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26276" y="2579340"/>
            <a:ext cx="81392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D4AF37"/>
                </a:solidFill>
                <a:latin typeface="Playfair Display"/>
              </a:rPr>
              <a:t>Golden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069" y="3684240"/>
            <a:ext cx="7751712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CCCCCC"/>
                </a:solidFill>
                <a:latin typeface="Lato Light"/>
              </a:rPr>
              <a:t>Полное руководство по макетам и визуальным компонентам презентаций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81625" y="2576512"/>
            <a:ext cx="14287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45668" y="2881312"/>
            <a:ext cx="5300662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D4AF37"/>
                </a:solidFill>
                <a:latin typeface="Playfair Display"/>
              </a:rPr>
              <a:t>Базовые Макеты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9803" y="4071937"/>
            <a:ext cx="391239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Изучение структуры контента и типографики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5286375" cy="3124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338387"/>
            <a:ext cx="5286375" cy="3124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Текст в две колонки (плитки)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757487"/>
            <a:ext cx="4730591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D4AF37"/>
                </a:solidFill>
                <a:latin typeface="Playfair Display"/>
              </a:rPr>
              <a:t>Теория цвета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357562"/>
            <a:ext cx="450532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Данный шаблон использует классическое сочетание черного и золотого, создавая премиальный, надежный и авторитетный образ. Темный фон снижает нагрузку на глаза и подчеркивает контент.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757487"/>
            <a:ext cx="4730591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D4AF37"/>
                </a:solidFill>
                <a:latin typeface="Playfair Display"/>
              </a:rPr>
              <a:t>Типографика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3357562"/>
            <a:ext cx="450532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Playfair Display обеспечивает классическую элегантность для заголовков, в то время как Lato предлагает исключительную читаемость для основного текста, балансируя между стилем и функцией.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937" y="2090737"/>
            <a:ext cx="36195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Профиль с круглым изображением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343150"/>
            <a:ext cx="5550693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D4AF37"/>
                </a:solidFill>
                <a:latin typeface="Playfair Display"/>
              </a:rPr>
              <a:t>Александр Громов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2943225"/>
            <a:ext cx="528637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Макет идеален для представления ключевых лиц компании, спикеров или отзывов клиентов. Использование круглого изображения смягчает строгий корпоративный стиль и добавляет персонализации.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4352925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Золотая обводка вокруг фотографии дополнительно акцентирует внимание и поддерживает общую премиальную стилистику презентации.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037" y="2128837"/>
            <a:ext cx="354330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90737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Изображение справа, текст слева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090737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Структурированный подход к подаче информации улучшает восприятие.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890837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Изображение справа служит визуальным якорем, не отвлекая от чтения текста слева направо.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690937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Идеально подходит для описания процессов, интерьеров или демонстрации продукта.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491037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Каждый пункт списка дополнен акцентным маркером для поддержания стиля.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100262"/>
            <a:ext cx="5267325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2109787"/>
            <a:ext cx="8572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D4AF37"/>
                </a:solidFill>
                <a:latin typeface="Lato"/>
              </a:rPr>
              <a:t>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909887"/>
            <a:ext cx="8572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D4AF37"/>
                </a:solidFill>
                <a:latin typeface="Lato"/>
              </a:rPr>
              <a:t>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709987"/>
            <a:ext cx="8572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D4AF37"/>
                </a:solidFill>
                <a:latin typeface="Lato"/>
              </a:rPr>
              <a:t>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510087"/>
            <a:ext cx="8572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D4AF37"/>
                </a:solidFill>
                <a:latin typeface="Lato"/>
              </a:rPr>
              <a:t>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Макет "Изображение навылет"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362200"/>
            <a:ext cx="5550693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D4AF37"/>
                </a:solidFill>
                <a:latin typeface="Playfair Display"/>
              </a:rPr>
              <a:t>Максимальный визуальный удар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105150"/>
            <a:ext cx="528637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Этот макет занимает ровно половину экрана полноформатным изображением. Отсутствие полей (отступов) у картинки создает эффект погружения и масштаба.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05350"/>
            <a:ext cx="528637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Текстовый блок остается сбалансированным и сфокусированным. Используйте этот формат для важнейших заявлений, разделов портфолио или эмоционального вовлечения аудитории.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33575"/>
            <a:ext cx="3492549" cy="3933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33575"/>
            <a:ext cx="3492549" cy="3933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33575"/>
            <a:ext cx="3492549" cy="3933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Текстовые блоки с иконками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019425"/>
            <a:ext cx="1490186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D4AF37"/>
                </a:solidFill>
                <a:latin typeface="Playfair Display"/>
              </a:rPr>
              <a:t>Ценность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762375"/>
            <a:ext cx="2901999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Четкое разделение преимуществ. Иконки помогают визуально кодировать информацию для быстрого считывания.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019425"/>
            <a:ext cx="1610201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D4AF37"/>
                </a:solidFill>
                <a:latin typeface="Playfair Display"/>
              </a:rPr>
              <a:t>Стратегия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074" y="3762375"/>
            <a:ext cx="290199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Симметрия блоков создает ощущение порядка и продуманности каждого шага в вашем бизнес-плане.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019425"/>
            <a:ext cx="1890236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D4AF37"/>
                </a:solidFill>
                <a:latin typeface="Playfair Display"/>
              </a:rPr>
              <a:t>Надежность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3374" y="3762375"/>
            <a:ext cx="290199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Темный фон плиток с легким контуром и золотой верхней линией подчеркивает премиальность и безопасность.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362200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362200"/>
            <a:ext cx="38100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3622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Макет "Цитата"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6425" y="2671762"/>
            <a:ext cx="8439150" cy="1800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725"/>
              </a:lnSpc>
            </a:pPr>
            <a:r>
              <a:rPr b="0" sz="3150" i="1" u="none">
                <a:solidFill>
                  <a:srgbClr val="FFFFFF"/>
                </a:solidFill>
                <a:latin typeface="Playfair Display"/>
              </a:rPr>
              <a:t> Дизайн — это не то, как предмет выглядит, а то, как он работает. В премиальном сегменте он должен работать безупречно.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05375" y="4852987"/>
            <a:ext cx="2381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1" u="none">
                <a:solidFill>
                  <a:srgbClr val="D4AF37"/>
                </a:solidFill>
                <a:latin typeface="Lato"/>
              </a:rPr>
              <a:t>— GOLDEN SYNTAX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9675" y="3052762"/>
            <a:ext cx="342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0" sz="9000" i="1" u="none">
                <a:solidFill>
                  <a:srgbClr val="D4AF37"/>
                </a:solidFill>
                <a:latin typeface="Playfair Display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9425" y="4471987"/>
            <a:ext cx="342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0" sz="9000" i="1" u="none">
                <a:solidFill>
                  <a:srgbClr val="D4AF37"/>
                </a:solidFill>
                <a:latin typeface="Playfair Display"/>
              </a:rPr>
              <a:t>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Ключевые показатели (Выделенные цифры)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00362"/>
            <a:ext cx="498157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0"/>
              </a:lnSpc>
              <a:defRPr/>
            </a:pPr>
            <a:r>
              <a:rPr b="1" sz="12000" i="0" u="none">
                <a:solidFill>
                  <a:srgbClr val="D4AF37"/>
                </a:solidFill>
                <a:latin typeface="Playfair Display"/>
              </a:rPr>
              <a:t>98%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567237"/>
            <a:ext cx="49815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FFFFFF"/>
                </a:solidFill>
                <a:latin typeface="Lato Light"/>
              </a:rPr>
              <a:t>Удовлетворенность клиентов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2647950"/>
            <a:ext cx="5550693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D4AF37"/>
                </a:solidFill>
                <a:latin typeface="Playfair Display"/>
              </a:rPr>
              <a:t>Фокус на результатах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3248025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Этот макет позволяет выделить одну самую важную цифру, делая её невозможной для игнорирования.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4048125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Крупная типографика в сочетании с акцентным золотым цветом мгновенно передает масштаб достижения и формирует доверие к представленным данным.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Стилизованные маркированные списки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33500" y="1957387"/>
            <a:ext cx="9525000" cy="1104900"/>
          </a:xfrm>
          <a:prstGeom prst="roundRect">
            <a:avLst>
              <a:gd name="adj" fmla="val 6896"/>
            </a:avLst>
          </a:prstGeom>
          <a:solidFill>
            <a:srgbClr val="1A1A1A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95500" y="2195512"/>
            <a:ext cx="8477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FFFFF"/>
                </a:solidFill>
                <a:latin typeface="Lato"/>
              </a:rPr>
              <a:t>Верификация данных:</a:t>
            </a:r>
            <a:r>
              <a:rPr b="0" sz="1500" i="0" u="none">
                <a:solidFill>
                  <a:srgbClr val="CCCCCC"/>
                </a:solidFill>
                <a:latin typeface="Lato"/>
              </a:rPr>
              <a:t> Использование пользовательских иконок FontAwesome вместо стандартных точек усиливает смысловую нагрузку каждого пункта.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3252787"/>
            <a:ext cx="9525000" cy="1104900"/>
          </a:xfrm>
          <a:prstGeom prst="roundRect">
            <a:avLst>
              <a:gd name="adj" fmla="val 6896"/>
            </a:avLst>
          </a:prstGeom>
          <a:solidFill>
            <a:srgbClr val="1A1A1A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95500" y="3490912"/>
            <a:ext cx="8477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FFFFF"/>
                </a:solidFill>
                <a:latin typeface="Lato"/>
              </a:rPr>
              <a:t>Точность позиционирования:</a:t>
            </a:r>
            <a:r>
              <a:rPr b="0" sz="1500" i="0" u="none">
                <a:solidFill>
                  <a:srgbClr val="CCCCCC"/>
                </a:solidFill>
                <a:latin typeface="Lato"/>
              </a:rPr>
              <a:t> Блочная структура списков с фоновой заливкой превращает простой текст в полноценные элементы интерфейса презентации.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3500" y="4548187"/>
            <a:ext cx="9525000" cy="1104900"/>
          </a:xfrm>
          <a:prstGeom prst="roundRect">
            <a:avLst>
              <a:gd name="adj" fmla="val 6896"/>
            </a:avLst>
          </a:prstGeom>
          <a:solidFill>
            <a:srgbClr val="1A1A1A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95500" y="4786312"/>
            <a:ext cx="8477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FFFFF"/>
                </a:solidFill>
                <a:latin typeface="Lato"/>
              </a:rPr>
              <a:t>Премиальный статус:</a:t>
            </a:r>
            <a:r>
              <a:rPr b="0" sz="1500" i="0" u="none">
                <a:solidFill>
                  <a:srgbClr val="CCCCCC"/>
                </a:solidFill>
                <a:latin typeface="Lato"/>
              </a:rPr>
              <a:t> Золотые акценты на иконках направляют взгляд зрителя и структурируют порядок чтения сложной информации.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3052762"/>
            <a:ext cx="95250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3500" y="4348162"/>
            <a:ext cx="95250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33500" y="5643562"/>
            <a:ext cx="95250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2371725"/>
            <a:ext cx="238125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0" y="3667125"/>
            <a:ext cx="266700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4962525"/>
            <a:ext cx="20002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05012"/>
            <a:ext cx="3492549" cy="3790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005012"/>
            <a:ext cx="3492549" cy="3790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005012"/>
            <a:ext cx="3492549" cy="3790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Сетка изображений (Плитка)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4300537"/>
            <a:ext cx="32471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D4AF37"/>
                </a:solidFill>
                <a:latin typeface="Playfair Display"/>
              </a:rPr>
              <a:t>Активы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4795837"/>
            <a:ext cx="309249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Управление финансами и распределение капитала.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9824" y="4300537"/>
            <a:ext cx="32471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D4AF37"/>
                </a:solidFill>
                <a:latin typeface="Playfair Display"/>
              </a:rPr>
              <a:t>Аналитика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9824" y="4795837"/>
            <a:ext cx="309249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Отслеживание метрик в реальном времени.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124" y="4300537"/>
            <a:ext cx="32471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D4AF37"/>
                </a:solidFill>
                <a:latin typeface="Playfair Display"/>
              </a:rPr>
              <a:t>Сделки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8124" y="4795837"/>
            <a:ext cx="309249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Юридическое закрепление договоренностей.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205037"/>
            <a:ext cx="3092499" cy="1905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824" y="2205037"/>
            <a:ext cx="3092499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205037"/>
            <a:ext cx="3092499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6982"/>
            <a:ext cx="11049000" cy="37070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Таблица данных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2056507"/>
          <a:ext cx="11029947" cy="3687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459360"/>
                <a:gridCol w="2168574"/>
                <a:gridCol w="2183903"/>
                <a:gridCol w="3218110"/>
              </a:tblGrid>
              <a:tr h="737592"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D4AF37"/>
                          </a:solidFill>
                          <a:latin typeface="Playfair Display SemiBold"/>
                        </a:rPr>
                        <a:t>Услуга / Тариф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D4AF37"/>
                          </a:solidFill>
                          <a:latin typeface="Playfair Display SemiBold"/>
                        </a:rPr>
                        <a:t>Standard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D4AF37"/>
                          </a:solidFill>
                          <a:latin typeface="Playfair Display SemiBold"/>
                        </a:rPr>
                        <a:t>Business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D4AF37"/>
                          </a:solidFill>
                          <a:latin typeface="Playfair Display SemiBold"/>
                        </a:rPr>
                        <a:t>Exclusive (Gold)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222"/>
                    </a:solidFill>
                  </a:tcPr>
                </a:tc>
              </a:tr>
              <a:tr h="737592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CCCCC"/>
                          </a:solidFill>
                          <a:latin typeface="Lato"/>
                        </a:rPr>
                        <a:t>Аналитика рынка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CCCCC"/>
                          </a:solidFill>
                          <a:latin typeface="Lato"/>
                        </a:rPr>
                        <a:t>Базовая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CCCCC"/>
                          </a:solidFill>
                          <a:latin typeface="Lato"/>
                        </a:rPr>
                        <a:t>Расширенная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CCCCC"/>
                          </a:solidFill>
                          <a:latin typeface="Lato"/>
                        </a:rPr>
                        <a:t>Индивидуальная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7592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CCCCC"/>
                          </a:solidFill>
                          <a:latin typeface="Lato"/>
                        </a:rPr>
                        <a:t>Поддержка 24/7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5"/>
                    </a:solidFill>
                  </a:tcPr>
                </a:tc>
              </a:tr>
              <a:tr h="737592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CCCCC"/>
                          </a:solidFill>
                          <a:latin typeface="Lato"/>
                        </a:rPr>
                        <a:t>Персональный менеджер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7592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CCCCC"/>
                          </a:solidFill>
                          <a:latin typeface="Lato"/>
                        </a:rPr>
                        <a:t>Комиссия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CCCCC"/>
                          </a:solidFill>
                          <a:latin typeface="Lato"/>
                        </a:rPr>
                        <a:t>2.5%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CCCCC"/>
                          </a:solidFill>
                          <a:latin typeface="Lato"/>
                        </a:rPr>
                        <a:t>1.5%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CCCCC"/>
                          </a:solidFill>
                          <a:latin typeface="Lato"/>
                        </a:rPr>
                        <a:t>0.8%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1025" y="2806005"/>
            <a:ext cx="345936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40385" y="2806005"/>
            <a:ext cx="2168574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8960" y="2806005"/>
            <a:ext cx="218390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92864" y="2806005"/>
            <a:ext cx="321811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025" y="3539430"/>
            <a:ext cx="345936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40385" y="3539430"/>
            <a:ext cx="2168574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8960" y="3539430"/>
            <a:ext cx="218390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92864" y="3539430"/>
            <a:ext cx="321811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4272855"/>
            <a:ext cx="345936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40385" y="4272855"/>
            <a:ext cx="2168574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960" y="4272855"/>
            <a:ext cx="218390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92864" y="4272855"/>
            <a:ext cx="321811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1025" y="5006280"/>
            <a:ext cx="345936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0385" y="5006280"/>
            <a:ext cx="2168574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8960" y="5006280"/>
            <a:ext cx="218390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92864" y="5006280"/>
            <a:ext cx="321811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614" y="4563367"/>
            <a:ext cx="17145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135" y="3829942"/>
            <a:ext cx="1714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710" y="3829942"/>
            <a:ext cx="1714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4710" y="4563367"/>
            <a:ext cx="17145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8614" y="3829942"/>
            <a:ext cx="17145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6135" y="4563367"/>
            <a:ext cx="17145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135" y="3829942"/>
            <a:ext cx="17145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710" y="3829942"/>
            <a:ext cx="171450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8614" y="3829942"/>
            <a:ext cx="17145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6135" y="4563367"/>
            <a:ext cx="17145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4710" y="4563367"/>
            <a:ext cx="17145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614" y="4563367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14475"/>
            <a:ext cx="11049000" cy="4772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Столбчатая диаграмма для сравнений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" y="4953000"/>
            <a:ext cx="99441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1" u="none">
                <a:solidFill>
                  <a:srgbClr val="CCCCCC"/>
                </a:solidFill>
                <a:latin typeface="Lato"/>
              </a:rPr>
              <a:t>Сравнение эффективности филиалов за текущий финансовый год. Регион Alpha демонстрирует безоговорочное лидерство благодаря внедрению новой стратегии.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14475"/>
            <a:ext cx="11049000" cy="4772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Кольцевая диаграмма долей рынка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6315" y="5700712"/>
            <a:ext cx="971922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1" u="none">
                <a:solidFill>
                  <a:srgbClr val="CCCCCC"/>
                </a:solidFill>
                <a:latin typeface="Lato"/>
              </a:rPr>
              <a:t>Компания уверенно контролирует более половины рынка, оставляя ближайшего конкурента далеко позади.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79773"/>
            <a:ext cx="11049000" cy="52415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336798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Диаграмма с областями (Тренды)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" y="5721250"/>
            <a:ext cx="99441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1" u="none">
                <a:solidFill>
                  <a:srgbClr val="CCCCCC"/>
                </a:solidFill>
                <a:latin typeface="Lato"/>
              </a:rPr>
              <a:t>Стабильный рост капитализации за последние пять лет с пробитием исторического максимума в 2025 году.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24362"/>
            <a:ext cx="2541240" cy="14361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21421"/>
            <a:ext cx="2541240" cy="14361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424362"/>
            <a:ext cx="2541240" cy="14361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21421"/>
            <a:ext cx="2541240" cy="14361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Временная шкала (Timeline)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4071937"/>
            <a:ext cx="11049000" cy="381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995" y="4643437"/>
            <a:ext cx="224824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D4AF37"/>
                </a:solidFill>
                <a:latin typeface="Playfair Display"/>
              </a:rPr>
              <a:t>Фаза 1: Анализ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5081587"/>
            <a:ext cx="214119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CCCCCC"/>
                </a:solidFill>
                <a:latin typeface="Lato"/>
              </a:rPr>
              <a:t>Аудит текущих бизнес-процессов и сбор метрик.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3915" y="2521446"/>
            <a:ext cx="224824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D4AF37"/>
                </a:solidFill>
                <a:latin typeface="Playfair Display"/>
              </a:rPr>
              <a:t>Фаза 2: Концепт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7444" y="2959596"/>
            <a:ext cx="214119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CCCCCC"/>
                </a:solidFill>
                <a:latin typeface="Lato"/>
              </a:rPr>
              <a:t>Разработка архитектуры решения и прототипирование.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9835" y="4643437"/>
            <a:ext cx="224824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D4AF37"/>
                </a:solidFill>
                <a:latin typeface="Playfair Display"/>
              </a:rPr>
              <a:t>Фаза 3: Интеграция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364" y="5081587"/>
            <a:ext cx="214119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CCCCCC"/>
                </a:solidFill>
                <a:latin typeface="Lato"/>
              </a:rPr>
              <a:t>Полномасштабное внедрение системы в инфраструктуру.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5755" y="2521446"/>
            <a:ext cx="224824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D4AF37"/>
                </a:solidFill>
                <a:latin typeface="Playfair Display"/>
              </a:rPr>
              <a:t>Фаза 4: Масштаб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9284" y="2959596"/>
            <a:ext cx="214119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CCCCCC"/>
                </a:solidFill>
                <a:latin typeface="Lato"/>
              </a:rPr>
              <a:t>Оптимизация процессов и выход на новые рынки.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27820" y="39766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381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63740" y="39766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381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99659" y="39766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381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35579" y="39766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381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495550"/>
            <a:ext cx="5286375" cy="13326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Синтаксис формул (MathML)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95550"/>
            <a:ext cx="5550693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D4AF37"/>
                </a:solidFill>
                <a:latin typeface="Playfair Display"/>
              </a:rPr>
              <a:t>Интеграция сложных вычислений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95625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Презентация поддерживает нативную отрисовку математических и научных формул с использованием стандарта MathML.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200525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CCCCC"/>
                </a:solidFill>
                <a:latin typeface="Lato"/>
              </a:rPr>
              <a:t>Формулы корректно отображаются, масштабируются и сохраняют идеальный контраст на темном фоне, соблюдая свойство display: math.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384" y="2886075"/>
            <a:ext cx="4212431" cy="5515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475" y="4489995"/>
            <a:ext cx="4591050" cy="552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815405"/>
            <a:ext cx="116014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750" i="0" u="none">
                <a:solidFill>
                  <a:srgbClr val="D4AF37"/>
                </a:solidFill>
                <a:latin typeface="Playfair Display"/>
              </a:rPr>
              <a:t>Вопросы?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25105"/>
            <a:ext cx="1104900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100" i="0" u="none">
                <a:solidFill>
                  <a:srgbClr val="CCCCCC"/>
                </a:solidFill>
                <a:latin typeface="Lato"/>
              </a:rPr>
              <a:t>Благодарим за внимание к Golden Syntax.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08992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45196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23673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021508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806279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591050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227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227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0119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0119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79675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379675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581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581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53662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53662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1390"/>
            <a:ext cx="857250" cy="476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66875" y="159484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CCCCC"/>
                </a:solidFill>
                <a:latin typeface="Lato"/>
              </a:rPr>
              <a:t>https://media.easy-peasy.ai/7f32c71b-2fe5-45d5-a73f-612c45c04bf1/b4abd09d-ce14-4ba0-ad0a-a6b67874102d_medium.webp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184055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CCCCC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easy-peasy.ai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86161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66875" y="237961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CCCCC"/>
                </a:solidFill>
                <a:latin typeface="Lato"/>
              </a:rPr>
              <a:t>https://img5.su-cdn.com/cdn-cgi/image/width=750,height=750/mall/file/2022/03/22/69369ec005b84b7ba6bb6f852143673b.jpg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262532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CCCCC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www.homary.com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70932"/>
            <a:ext cx="857250" cy="4762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66875" y="316438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CCCCC"/>
                </a:solidFill>
                <a:latin typeface="Lato"/>
              </a:rPr>
              <a:t>https://i.etsystatic.com/58629089/r/il/f6510b/7659065712/il_570xN.7659065712_qgr2.jpg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341009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CCCCC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www.etsy.com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55702"/>
            <a:ext cx="857250" cy="4762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666875" y="3949154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CCCCC"/>
                </a:solidFill>
                <a:latin typeface="Lato"/>
              </a:rPr>
              <a:t>https://static.vecteezy.com/system/resources/thumbnails/071/439/583/small/gold-coins-and-financial-market-chart-photo.jpg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6875" y="4194869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CCCCC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www.vecteezy.com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40473"/>
            <a:ext cx="857250" cy="4762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66875" y="4733925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CCCCC"/>
                </a:solidFill>
                <a:latin typeface="Lato"/>
              </a:rPr>
              <a:t>https://lookaside.fbsbx.com/lookaside/crawler/media/?media_id=1434742832028566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6875" y="4979640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CCCCC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www.facebook.com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624363"/>
            <a:ext cx="857250" cy="4762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666875" y="5518695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CCCCC"/>
                </a:solidFill>
                <a:latin typeface="Lato"/>
              </a:rPr>
              <a:t>https://static.vecteezy.com/system/resources/thumbnails/069/257/337/small/elegant-hand-signing-contract-close-up-of-a-person-signing-a-legal-document-with-a-luxurious-fountain-pen-in-a-sophisticated-office-setting-photo.jpg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66875" y="5962501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CCCCC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www.vecteezy.com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FFFFF"/>
                </a:solidFill>
                <a:latin typeface="Playfair Display SemiBold"/>
              </a:rPr>
              <a:t>Image Sources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862" y="3662213"/>
            <a:ext cx="857250" cy="47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86237" y="3655665"/>
            <a:ext cx="49149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CCCCC"/>
                </a:solidFill>
                <a:latin typeface="Lato"/>
              </a:rPr>
              <a:t>https://wallpaperinspo.com/downloads/thin_golden_geometry-black-wallpapers-iphone.jpg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6237" y="3901380"/>
            <a:ext cx="49149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CCCCC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wallpaperinspo.com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